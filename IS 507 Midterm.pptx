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8288000" cy="10287000"/>
  <p:notesSz cx="6858000" cy="9144000"/>
  <p:embeddedFontLst>
    <p:embeddedFont>
      <p:font typeface="Arial Nova Condensed" panose="020B0506020202020204" pitchFamily="34" charset="0"/>
      <p:regular r:id="rId14"/>
    </p:embeddedFont>
    <p:embeddedFont>
      <p:font typeface="Arial Nova Condensed Bold" panose="020B0806020202020204" pitchFamily="34" charset="0"/>
      <p:regular r:id="rId15"/>
      <p:bold r:id="rId16"/>
    </p:embeddedFont>
    <p:embeddedFont>
      <p:font typeface="IBM Plex Mono Bold" panose="020B0809050203000203"/>
      <p:regular r:id="rId17"/>
      <p:bold r:id="rId18"/>
    </p:embeddedFont>
    <p:embeddedFont>
      <p:font typeface="Inter" panose="020B0502030000000004" pitchFamily="34" charset="0"/>
      <p:regular r:id="rId19"/>
    </p:embeddedFont>
    <p:embeddedFont>
      <p:font typeface="Inter Bold" panose="020B0802030000000004" pitchFamily="34" charset="0"/>
      <p:regular r:id="rId20"/>
      <p:bold r:id="rId21"/>
    </p:embeddedFont>
    <p:embeddedFont>
      <p:font typeface="Inter Medium" panose="02000503000000020004" pitchFamily="2" charset="0"/>
      <p:regular r:id="rId22"/>
    </p:embeddedFont>
    <p:embeddedFont>
      <p:font typeface="Inter Semi-Bold" panose="02000503000000020004" pitchFamily="2" charset="0"/>
      <p:regular r:id="rId23"/>
      <p:bold r:id="rId24"/>
    </p:embeddedFon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Source Sans 3" panose="020B0303030403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91" autoAdjust="0"/>
    <p:restoredTop sz="94271" autoAdjust="0"/>
  </p:normalViewPr>
  <p:slideViewPr>
    <p:cSldViewPr>
      <p:cViewPr varScale="1">
        <p:scale>
          <a:sx n="73" d="100"/>
          <a:sy n="73" d="100"/>
        </p:scale>
        <p:origin x="56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0622B-C1E0-421F-87FA-F60211260F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2026/10/11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D8BCA-7372-4770-80D6-6DF44E6612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68096-1DDB-439C-8E1C-E3BAD91999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22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BEB895-4D11-4514-8E6D-9E58E5F5C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4A41D-52B7-4604-B8BF-0414FC886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C5C2A-E106-4F79-9998-D7A71DA14A5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2026/10/11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3FCB8-41B2-4FF5-AA18-56EAA9114C2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7EECA-0650-423B-AADC-72D886C59B3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5986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651AD4-5AE9-4B38-A37F-06E9C54571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0580A6A-AA75-4CA6-BD03-BE4F2D50EF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 rotWithShape="1">
            <a:gsLst>
              <a:gs pos="0">
                <a:srgbClr val="0B1F2A">
                  <a:alpha val="98000"/>
                </a:srgbClr>
              </a:gs>
              <a:gs pos="55000">
                <a:srgbClr val="0B1F2A">
                  <a:alpha val="72000"/>
                </a:srgbClr>
              </a:gs>
              <a:gs pos="100000">
                <a:srgbClr val="0B1F2A">
                  <a:alpha val="8000"/>
                </a:srgbClr>
              </a:gs>
            </a:gsLst>
            <a:lin ang="16200000"/>
          </a:grad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2C603E0-69C0-4F3E-92D7-30539B845504}"/>
              </a:ext>
            </a:extLst>
          </p:cNvPr>
          <p:cNvSpPr>
            <a:spLocks noGrp="1"/>
          </p:cNvSpPr>
          <p:nvPr/>
        </p:nvSpPr>
        <p:spPr>
          <a:xfrm>
            <a:off x="0" y="-28575"/>
            <a:ext cx="18288000" cy="1031557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marL="0" marR="0" lvl="0" indent="0" algn="l" defTabSz="914400" eaLnBrk="1" fontAlgn="auto" latinLnBrk="0" hangingPunct="1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2A1A514-D1D4-4160-8FF0-A42C16581659}"/>
              </a:ext>
            </a:extLst>
          </p:cNvPr>
          <p:cNvSpPr>
            <a:spLocks noGrp="1"/>
          </p:cNvSpPr>
          <p:nvPr/>
        </p:nvSpPr>
        <p:spPr>
          <a:xfrm>
            <a:off x="1047750" y="1619250"/>
            <a:ext cx="1333500" cy="76200"/>
          </a:xfrm>
          <a:custGeom>
            <a:avLst/>
            <a:gdLst/>
            <a:ahLst/>
            <a:cxnLst/>
            <a:rect l="l" t="t" r="r" b="b"/>
            <a:pathLst>
              <a:path w="1778000" h="101600">
                <a:moveTo>
                  <a:pt x="0" y="0"/>
                </a:moveTo>
                <a:lnTo>
                  <a:pt x="1778000" y="0"/>
                </a:lnTo>
                <a:lnTo>
                  <a:pt x="1778000" y="101600"/>
                </a:lnTo>
                <a:lnTo>
                  <a:pt x="0" y="101600"/>
                </a:lnTo>
                <a:close/>
              </a:path>
            </a:pathLst>
          </a:custGeom>
          <a:solidFill>
            <a:srgbClr val="F06B4F"/>
          </a:solid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7177771-51AF-405D-A051-B058D597E7CB}"/>
              </a:ext>
            </a:extLst>
          </p:cNvPr>
          <p:cNvSpPr>
            <a:spLocks noGrp="1"/>
          </p:cNvSpPr>
          <p:nvPr/>
        </p:nvSpPr>
        <p:spPr>
          <a:xfrm>
            <a:off x="1047750" y="1590675"/>
            <a:ext cx="1333500" cy="10477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marL="0" marR="0" lvl="0" indent="0" algn="l" defTabSz="914400" eaLnBrk="1" fontAlgn="auto" latinLnBrk="0" hangingPunct="1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108101E-6F00-46C0-B1ED-DDB751D6D668}"/>
              </a:ext>
            </a:extLst>
          </p:cNvPr>
          <p:cNvSpPr>
            <a:spLocks noGrp="1"/>
          </p:cNvSpPr>
          <p:nvPr/>
        </p:nvSpPr>
        <p:spPr>
          <a:xfrm>
            <a:off x="1047750" y="2038350"/>
            <a:ext cx="13582650" cy="19030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ts val="550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5400" b="1" dirty="0">
                <a:solidFill>
                  <a:srgbClr val="FFFFFF"/>
                </a:solidFill>
                <a:latin typeface="Montserrat" pitchFamily="2" charset="0"/>
                <a:ea typeface="Montserrat Bold"/>
                <a:cs typeface="Montserrat Bold"/>
              </a:rPr>
              <a:t>Weather Data </a:t>
            </a:r>
          </a:p>
          <a:p>
            <a:pPr marL="0" marR="0" lvl="0" indent="0" algn="l" defTabSz="914400" eaLnBrk="1" fontAlgn="auto" latinLnBrk="0" hangingPunct="1">
              <a:lnSpc>
                <a:spcPts val="550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0"/>
                <a:ea typeface="Montserrat Bold"/>
                <a:cs typeface="Montserrat Bold"/>
              </a:rPr>
              <a:t>and Next-Day PM2.5 Prediction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0"/>
              <a:ea typeface="Montserrat Bold"/>
              <a:cs typeface="Montserrat Bold"/>
            </a:endParaRPr>
          </a:p>
          <a:p>
            <a:pPr lvl="0"/>
            <a:r>
              <a:rPr lang="zh-TW" altLang="zh-TW" sz="3200" dirty="0">
                <a:solidFill>
                  <a:schemeClr val="bg1"/>
                </a:solidFill>
                <a:latin typeface="Montserrat" pitchFamily="2" charset="0"/>
              </a:rPr>
              <a:t>Evidence from Six Monitoring Stations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0"/>
              <a:ea typeface="Montserrat Bold"/>
              <a:cs typeface="Montserrat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5925A97-7F3D-470F-9CEE-D7BA28B92AD0}"/>
              </a:ext>
            </a:extLst>
          </p:cNvPr>
          <p:cNvSpPr>
            <a:spLocks noGrp="1"/>
          </p:cNvSpPr>
          <p:nvPr/>
        </p:nvSpPr>
        <p:spPr>
          <a:xfrm>
            <a:off x="1047750" y="7629525"/>
            <a:ext cx="558165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72" normalizeH="0" baseline="0" noProof="0" dirty="0">
                <a:ln>
                  <a:noFill/>
                </a:ln>
                <a:solidFill>
                  <a:srgbClr val="8FD6C7"/>
                </a:solidFill>
                <a:effectLst/>
                <a:uLnTx/>
                <a:uFillTx/>
                <a:latin typeface="IBM Plex Mono Bold"/>
                <a:ea typeface="IBM Plex Mono Bold"/>
                <a:cs typeface="IBM Plex Mono Bold"/>
              </a:rPr>
              <a:t>IS 507 Data, Stat, and Info</a:t>
            </a:r>
            <a:r>
              <a:rPr kumimoji="0" lang="zh-TW" altLang="en-US" sz="1800" b="1" i="0" u="none" strike="noStrike" kern="1200" cap="none" spc="72" normalizeH="0" baseline="0" noProof="0" dirty="0">
                <a:ln>
                  <a:noFill/>
                </a:ln>
                <a:solidFill>
                  <a:srgbClr val="8FD6C7"/>
                </a:solidFill>
                <a:effectLst/>
                <a:uLnTx/>
                <a:uFillTx/>
                <a:latin typeface="IBM Plex Mono Bold"/>
                <a:ea typeface="IBM Plex Mono Bold"/>
                <a:cs typeface="IBM Plex Mono Bold"/>
              </a:rPr>
              <a:t> </a:t>
            </a:r>
            <a:r>
              <a:rPr kumimoji="0" lang="en-US" altLang="zh-TW" sz="1800" b="1" i="0" u="none" strike="noStrike" kern="1200" cap="none" spc="72" normalizeH="0" baseline="0" noProof="0" dirty="0">
                <a:ln>
                  <a:noFill/>
                </a:ln>
                <a:solidFill>
                  <a:srgbClr val="8FD6C7"/>
                </a:solidFill>
                <a:effectLst/>
                <a:uLnTx/>
                <a:uFillTx/>
                <a:latin typeface="IBM Plex Mono Bold"/>
                <a:ea typeface="IBM Plex Mono Bold"/>
                <a:cs typeface="IBM Plex Mono Bold"/>
              </a:rPr>
              <a:t>Midterm Project</a:t>
            </a:r>
            <a:endParaRPr kumimoji="0" lang="zh-TW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9BE0B12-5774-435A-984D-43E7847FBF3B}"/>
              </a:ext>
            </a:extLst>
          </p:cNvPr>
          <p:cNvSpPr>
            <a:spLocks noGrp="1"/>
          </p:cNvSpPr>
          <p:nvPr/>
        </p:nvSpPr>
        <p:spPr>
          <a:xfrm>
            <a:off x="1047750" y="8162925"/>
            <a:ext cx="5905500" cy="36471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ts val="3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2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Source Sans 3"/>
                <a:cs typeface="Source Sans 3"/>
              </a:rPr>
              <a:t>JingXuan</a:t>
            </a:r>
            <a:r>
              <a:rPr kumimoji="0" lang="en-US" altLang="zh-TW" sz="2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Source Sans 3"/>
                <a:cs typeface="Source Sans 3"/>
              </a:rPr>
              <a:t> Sun, Ta-Wei Peng, Che-Yueh Wu</a:t>
            </a:r>
            <a:endParaRPr kumimoji="0" sz="2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Source Sans 3"/>
              <a:cs typeface="Source Sans 3"/>
            </a:endParaRPr>
          </a:p>
        </p:txBody>
      </p:sp>
    </p:spTree>
    <p:extLst>
      <p:ext uri="{BB962C8B-B14F-4D97-AF65-F5344CB8AC3E}">
        <p14:creationId xmlns:p14="http://schemas.microsoft.com/office/powerpoint/2010/main" val="1075266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79932" y="5372100"/>
            <a:ext cx="6908068" cy="49149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0008086" y="0"/>
            <a:ext cx="8279914" cy="10287000"/>
          </a:xfrm>
          <a:custGeom>
            <a:avLst/>
            <a:gdLst/>
            <a:ahLst/>
            <a:cxnLst/>
            <a:rect l="l" t="t" r="r" b="b"/>
            <a:pathLst>
              <a:path w="8279914" h="10287000">
                <a:moveTo>
                  <a:pt x="0" y="0"/>
                </a:moveTo>
                <a:lnTo>
                  <a:pt x="8279914" y="0"/>
                </a:lnTo>
                <a:lnTo>
                  <a:pt x="8279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9144000" y="0"/>
            <a:ext cx="4790756" cy="10287000"/>
          </a:xfrm>
          <a:custGeom>
            <a:avLst/>
            <a:gdLst/>
            <a:ahLst/>
            <a:cxnLst/>
            <a:rect l="l" t="t" r="r" b="b"/>
            <a:pathLst>
              <a:path w="4790756" h="10287000">
                <a:moveTo>
                  <a:pt x="0" y="0"/>
                </a:moveTo>
                <a:lnTo>
                  <a:pt x="4790756" y="0"/>
                </a:lnTo>
                <a:lnTo>
                  <a:pt x="4790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864086" y="634055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898043" y="1675525"/>
            <a:ext cx="9315233" cy="233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 spc="-270">
                <a:solidFill>
                  <a:srgbClr val="09294B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Can weather improve tomorrow’s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9904" y="4009956"/>
            <a:ext cx="8129137" cy="119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 spc="-270">
                <a:solidFill>
                  <a:srgbClr val="05707F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PM2.5 prediction?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2489" y="5758902"/>
            <a:ext cx="5870620" cy="472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3023" b="1" spc="-29">
                <a:solidFill>
                  <a:srgbClr val="05707F"/>
                </a:solidFill>
                <a:latin typeface="Inter Medium"/>
                <a:ea typeface="Inter Medium"/>
                <a:cs typeface="Inter Medium"/>
                <a:sym typeface="Inter Medium"/>
              </a:rPr>
              <a:t>Six </a:t>
            </a:r>
            <a:r>
              <a:rPr lang="en-US" sz="3023" b="1" spc="-29">
                <a:solidFill>
                  <a:srgbClr val="09294B"/>
                </a:solidFill>
                <a:latin typeface="Inter Medium"/>
                <a:ea typeface="Inter Medium"/>
                <a:cs typeface="Inter Medium"/>
                <a:sym typeface="Inter Medium"/>
              </a:rPr>
              <a:t>air-quality stations in Taiwan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443" y="6585228"/>
            <a:ext cx="6175236" cy="98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3036" b="1" spc="-29" dirty="0">
                <a:solidFill>
                  <a:srgbClr val="09294B"/>
                </a:solidFill>
                <a:latin typeface="Inter Medium"/>
                <a:ea typeface="Inter Medium"/>
                <a:cs typeface="Inter Medium"/>
                <a:sym typeface="Inter Medium"/>
              </a:rPr>
              <a:t>Today’s </a:t>
            </a:r>
            <a:r>
              <a:rPr lang="en-US" sz="3036" b="1" spc="-29" dirty="0">
                <a:solidFill>
                  <a:srgbClr val="05707F"/>
                </a:solidFill>
                <a:latin typeface="Inter Medium"/>
                <a:ea typeface="Inter Medium"/>
                <a:cs typeface="Inter Medium"/>
                <a:sym typeface="Inter Medium"/>
              </a:rPr>
              <a:t>PM2.5</a:t>
            </a:r>
            <a:r>
              <a:rPr lang="en-US" sz="3036" b="1" spc="-29" dirty="0">
                <a:solidFill>
                  <a:srgbClr val="09294B"/>
                </a:solidFill>
                <a:latin typeface="Inter Medium"/>
                <a:ea typeface="Inter Medium"/>
                <a:cs typeface="Inter Medium"/>
                <a:sym typeface="Inter Medium"/>
              </a:rPr>
              <a:t> and weather inform tomorrow’s average PM2.5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4521" y="7966044"/>
            <a:ext cx="4667458" cy="929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5"/>
              </a:lnSpc>
            </a:pPr>
            <a:r>
              <a:rPr lang="en-US" sz="2904" b="1" spc="-28" dirty="0">
                <a:solidFill>
                  <a:srgbClr val="05707F"/>
                </a:solidFill>
                <a:latin typeface="Inter Medium"/>
                <a:ea typeface="Inter Medium"/>
                <a:cs typeface="Inter Medium"/>
                <a:sym typeface="Inter Medium"/>
              </a:rPr>
              <a:t>Decision: </a:t>
            </a:r>
            <a:r>
              <a:rPr lang="en-US" sz="2904" b="1" spc="-28" dirty="0">
                <a:solidFill>
                  <a:srgbClr val="09294B"/>
                </a:solidFill>
                <a:latin typeface="Inter Medium"/>
                <a:ea typeface="Inter Medium"/>
                <a:cs typeface="Inter Medium"/>
                <a:sym typeface="Inter Medium"/>
              </a:rPr>
              <a:t>is the extra</a:t>
            </a:r>
          </a:p>
          <a:p>
            <a:pPr algn="l">
              <a:lnSpc>
                <a:spcPts val="3775"/>
              </a:lnSpc>
            </a:pPr>
            <a:r>
              <a:rPr lang="en-US" sz="2904" b="1" spc="-28" dirty="0">
                <a:solidFill>
                  <a:srgbClr val="09294B"/>
                </a:solidFill>
                <a:latin typeface="Inter Medium"/>
                <a:ea typeface="Inter Medium"/>
                <a:cs typeface="Inter Medium"/>
                <a:sym typeface="Inter Medium"/>
              </a:rPr>
              <a:t>weather data worth using?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45330" y="426348"/>
            <a:ext cx="2187560" cy="437279"/>
          </a:xfrm>
          <a:custGeom>
            <a:avLst/>
            <a:gdLst/>
            <a:ahLst/>
            <a:cxnLst/>
            <a:rect l="l" t="t" r="r" b="b"/>
            <a:pathLst>
              <a:path w="2187560" h="437279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788765" y="1218235"/>
            <a:ext cx="4169565" cy="128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75"/>
              </a:lnSpc>
            </a:pPr>
            <a:r>
              <a:rPr lang="en-US" sz="9775" b="1" spc="-391">
                <a:solidFill>
                  <a:srgbClr val="0D284B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Our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1447" y="2945132"/>
            <a:ext cx="5295907" cy="437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b="1" spc="-28">
                <a:solidFill>
                  <a:srgbClr val="0D6A7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2021–2025</a:t>
            </a:r>
            <a:r>
              <a:rPr lang="en-US" sz="2896" b="1" spc="-28">
                <a:solidFill>
                  <a:srgbClr val="0D28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daily observations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1679" y="3788539"/>
            <a:ext cx="2272737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26" dirty="0">
                <a:solidFill>
                  <a:srgbClr val="0D6A76"/>
                </a:solidFill>
                <a:latin typeface="Inter Bold"/>
                <a:ea typeface="Inter Bold"/>
                <a:cs typeface="Inter Bold"/>
                <a:sym typeface="Inter Bold"/>
              </a:rPr>
              <a:t>Data sources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2639" y="4236039"/>
            <a:ext cx="8176683" cy="133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spc="-26" dirty="0">
                <a:solidFill>
                  <a:srgbClr val="0D284B"/>
                </a:solidFill>
                <a:latin typeface="Inter"/>
                <a:ea typeface="Inter"/>
                <a:cs typeface="Inter"/>
                <a:sym typeface="Inter"/>
              </a:rPr>
              <a:t>PM2.5: Taiwan Ministry of Environment</a:t>
            </a:r>
          </a:p>
          <a:p>
            <a:pPr algn="l">
              <a:lnSpc>
                <a:spcPts val="3587"/>
              </a:lnSpc>
            </a:pPr>
            <a:r>
              <a:rPr lang="en-US" sz="2759" spc="-26" dirty="0">
                <a:solidFill>
                  <a:srgbClr val="0D284B"/>
                </a:solidFill>
                <a:latin typeface="Inter"/>
                <a:ea typeface="Inter"/>
                <a:cs typeface="Inter"/>
                <a:sym typeface="Inter"/>
              </a:rPr>
              <a:t>weather: CWA CODIS</a:t>
            </a:r>
          </a:p>
          <a:p>
            <a:pPr algn="l">
              <a:lnSpc>
                <a:spcPts val="3587"/>
              </a:lnSpc>
            </a:pPr>
            <a:r>
              <a:rPr lang="en-US" sz="2759" spc="-26" dirty="0">
                <a:solidFill>
                  <a:srgbClr val="0D284B"/>
                </a:solidFill>
                <a:latin typeface="Inter"/>
                <a:ea typeface="Inter"/>
                <a:cs typeface="Inter"/>
                <a:sym typeface="Inter"/>
              </a:rPr>
              <a:t>station metadata: Taiwan Government Open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0123" y="5972361"/>
            <a:ext cx="1428353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26" dirty="0">
                <a:solidFill>
                  <a:srgbClr val="0D6A76"/>
                </a:solidFill>
                <a:latin typeface="Inter Bold"/>
                <a:ea typeface="Inter Bold"/>
                <a:cs typeface="Inter Bold"/>
                <a:sym typeface="Inter Bold"/>
              </a:rPr>
              <a:t>Stations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6925" y="6439247"/>
            <a:ext cx="4748075" cy="124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26">
                <a:solidFill>
                  <a:srgbClr val="0D284B"/>
                </a:solidFill>
                <a:latin typeface="Inter Medium"/>
                <a:ea typeface="Inter Medium"/>
                <a:cs typeface="Inter Medium"/>
                <a:sym typeface="Inter Medium"/>
              </a:rPr>
              <a:t>North: Tamsui, Zhongshan</a:t>
            </a:r>
          </a:p>
          <a:p>
            <a:pPr algn="l">
              <a:lnSpc>
                <a:spcPts val="3312"/>
              </a:lnSpc>
            </a:pPr>
            <a:r>
              <a:rPr lang="en-US" sz="2759" b="1" spc="-26">
                <a:solidFill>
                  <a:srgbClr val="0D284B"/>
                </a:solidFill>
                <a:latin typeface="Inter Medium"/>
                <a:ea typeface="Inter Medium"/>
                <a:cs typeface="Inter Medium"/>
                <a:sym typeface="Inter Medium"/>
              </a:rPr>
              <a:t>Central: Zhongming, Nantou</a:t>
            </a:r>
          </a:p>
          <a:p>
            <a:pPr algn="l">
              <a:lnSpc>
                <a:spcPts val="3312"/>
              </a:lnSpc>
            </a:pPr>
            <a:r>
              <a:rPr lang="en-US" sz="2759" b="1" spc="-26">
                <a:solidFill>
                  <a:srgbClr val="0D284B"/>
                </a:solidFill>
                <a:latin typeface="Inter Medium"/>
                <a:ea typeface="Inter Medium"/>
                <a:cs typeface="Inter Medium"/>
                <a:sym typeface="Inter Medium"/>
              </a:rPr>
              <a:t>South: Pingtung, Chaozhou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1501" y="8201366"/>
            <a:ext cx="3290549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26">
                <a:solidFill>
                  <a:srgbClr val="0D6A76"/>
                </a:solidFill>
                <a:latin typeface="Inter Bold"/>
                <a:ea typeface="Inter Bold"/>
                <a:cs typeface="Inter Bold"/>
                <a:sym typeface="Inter Bold"/>
              </a:rPr>
              <a:t>Unit of observation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2890" y="8638130"/>
            <a:ext cx="6151627" cy="86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b="1" spc="-28">
                <a:solidFill>
                  <a:srgbClr val="0D284B"/>
                </a:solidFill>
                <a:latin typeface="Inter Medium"/>
                <a:ea typeface="Inter Medium"/>
                <a:cs typeface="Inter Medium"/>
                <a:sym typeface="Inter Medium"/>
              </a:rPr>
              <a:t>One row = one station on one day</a:t>
            </a:r>
          </a:p>
          <a:p>
            <a:pPr algn="l">
              <a:lnSpc>
                <a:spcPts val="3475"/>
              </a:lnSpc>
            </a:pPr>
            <a:r>
              <a:rPr lang="en-US" sz="2896" b="1" spc="-28">
                <a:solidFill>
                  <a:srgbClr val="0D284B"/>
                </a:solidFill>
                <a:latin typeface="Inter Medium"/>
                <a:ea typeface="Inter Medium"/>
                <a:cs typeface="Inter Medium"/>
                <a:sym typeface="Inter Medium"/>
              </a:rPr>
              <a:t>10,956 station-days before filtering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4F582BC4-7887-328E-6E49-B094E9BF8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2945132"/>
            <a:ext cx="8247918" cy="54613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864086" y="426348"/>
            <a:ext cx="1531292" cy="437279"/>
          </a:xfrm>
          <a:custGeom>
            <a:avLst/>
            <a:gdLst/>
            <a:ahLst/>
            <a:cxnLst/>
            <a:rect l="l" t="t" r="r" b="b"/>
            <a:pathLst>
              <a:path w="1531292" h="437279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735564" y="1396579"/>
            <a:ext cx="6810786" cy="114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17"/>
              </a:lnSpc>
            </a:pPr>
            <a:r>
              <a:rPr lang="en-US" sz="8617" b="1" spc="-256">
                <a:solidFill>
                  <a:srgbClr val="09274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Data Challenges</a:t>
            </a:r>
          </a:p>
        </p:txBody>
      </p:sp>
      <p:sp>
        <p:nvSpPr>
          <p:cNvPr id="7" name="Freeform 7"/>
          <p:cNvSpPr/>
          <p:nvPr/>
        </p:nvSpPr>
        <p:spPr>
          <a:xfrm>
            <a:off x="864086" y="2776725"/>
            <a:ext cx="4582938" cy="229572"/>
          </a:xfrm>
          <a:custGeom>
            <a:avLst/>
            <a:gdLst/>
            <a:ahLst/>
            <a:cxnLst/>
            <a:rect l="l" t="t" r="r" b="b"/>
            <a:pathLst>
              <a:path w="4582938" h="229572">
                <a:moveTo>
                  <a:pt x="0" y="0"/>
                </a:moveTo>
                <a:lnTo>
                  <a:pt x="4582938" y="0"/>
                </a:lnTo>
                <a:lnTo>
                  <a:pt x="458293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852116" y="3443316"/>
            <a:ext cx="5871259" cy="96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b="1">
                <a:solidFill>
                  <a:srgbClr val="092749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PM2.5 daily mean required </a:t>
            </a:r>
          </a:p>
          <a:p>
            <a:pPr algn="l">
              <a:lnSpc>
                <a:spcPts val="3861"/>
              </a:lnSpc>
            </a:pPr>
            <a:r>
              <a:rPr lang="en-US" sz="2970" b="1">
                <a:solidFill>
                  <a:srgbClr val="092749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at least </a:t>
            </a:r>
            <a:r>
              <a:rPr lang="en-US" sz="2970" b="1">
                <a:solidFill>
                  <a:srgbClr val="0F7480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16</a:t>
            </a:r>
            <a:r>
              <a:rPr lang="en-US" sz="2970" b="1">
                <a:solidFill>
                  <a:srgbClr val="092749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valid hourly readings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4329" y="4874096"/>
            <a:ext cx="5649880" cy="144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b="1" dirty="0">
                <a:solidFill>
                  <a:srgbClr val="092749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Checked missing values, </a:t>
            </a:r>
          </a:p>
          <a:p>
            <a:pPr algn="l">
              <a:lnSpc>
                <a:spcPts val="3861"/>
              </a:lnSpc>
            </a:pPr>
            <a:r>
              <a:rPr lang="en-US" sz="2970" b="1" dirty="0">
                <a:solidFill>
                  <a:srgbClr val="092749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invalid symbols, and duplicate station-date rows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0222" y="6771762"/>
            <a:ext cx="6060630" cy="96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b="1">
                <a:solidFill>
                  <a:srgbClr val="092749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Matched each air-quality station to nearby weather observations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917" y="8157359"/>
            <a:ext cx="7191104" cy="96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b="1">
                <a:solidFill>
                  <a:srgbClr val="092749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Pingtung used </a:t>
            </a:r>
            <a:r>
              <a:rPr lang="en-US" sz="2970" b="1">
                <a:solidFill>
                  <a:srgbClr val="0F7480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Linluo</a:t>
            </a:r>
            <a:r>
              <a:rPr lang="en-US" sz="2970" b="1">
                <a:solidFill>
                  <a:srgbClr val="092749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for temperature, </a:t>
            </a:r>
          </a:p>
          <a:p>
            <a:pPr algn="l">
              <a:lnSpc>
                <a:spcPts val="3861"/>
              </a:lnSpc>
            </a:pPr>
            <a:r>
              <a:rPr lang="en-US" sz="2970" b="1">
                <a:solidFill>
                  <a:srgbClr val="092749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humidity, rain and </a:t>
            </a:r>
            <a:r>
              <a:rPr lang="en-US" sz="2970" b="1">
                <a:solidFill>
                  <a:srgbClr val="0F7480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Changzhi</a:t>
            </a:r>
            <a:r>
              <a:rPr lang="en-US" sz="2970" b="1">
                <a:solidFill>
                  <a:srgbClr val="092749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for wind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6C2787D5-82A3-0F5D-DADB-43216ADEC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134212"/>
            <a:ext cx="9829800" cy="6480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45330" y="426348"/>
            <a:ext cx="2187560" cy="437279"/>
          </a:xfrm>
          <a:custGeom>
            <a:avLst/>
            <a:gdLst/>
            <a:ahLst/>
            <a:cxnLst/>
            <a:rect l="l" t="t" r="r" b="b"/>
            <a:pathLst>
              <a:path w="2187560" h="437279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17631732" y="0"/>
            <a:ext cx="656268" cy="10287000"/>
          </a:xfrm>
          <a:custGeom>
            <a:avLst/>
            <a:gdLst/>
            <a:ahLst/>
            <a:cxnLst/>
            <a:rect l="l" t="t" r="r" b="b"/>
            <a:pathLst>
              <a:path w="656268" h="10287000">
                <a:moveTo>
                  <a:pt x="0" y="0"/>
                </a:moveTo>
                <a:lnTo>
                  <a:pt x="656268" y="0"/>
                </a:lnTo>
                <a:lnTo>
                  <a:pt x="6562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15673866" y="7925691"/>
            <a:ext cx="2614134" cy="2361309"/>
          </a:xfrm>
          <a:custGeom>
            <a:avLst/>
            <a:gdLst/>
            <a:ahLst/>
            <a:cxnLst/>
            <a:rect l="l" t="t" r="r" b="b"/>
            <a:pathLst>
              <a:path w="2614134" h="2361309">
                <a:moveTo>
                  <a:pt x="0" y="0"/>
                </a:moveTo>
                <a:lnTo>
                  <a:pt x="2614134" y="0"/>
                </a:lnTo>
                <a:lnTo>
                  <a:pt x="261413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6087951" y="2326387"/>
            <a:ext cx="11054245" cy="4855318"/>
          </a:xfrm>
          <a:custGeom>
            <a:avLst/>
            <a:gdLst/>
            <a:ahLst/>
            <a:cxnLst/>
            <a:rect l="l" t="t" r="r" b="b"/>
            <a:pathLst>
              <a:path w="11054245" h="4855318">
                <a:moveTo>
                  <a:pt x="0" y="0"/>
                </a:moveTo>
                <a:lnTo>
                  <a:pt x="11054246" y="0"/>
                </a:lnTo>
                <a:lnTo>
                  <a:pt x="11054246" y="4855318"/>
                </a:lnTo>
                <a:lnTo>
                  <a:pt x="0" y="4855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804104" y="1185547"/>
            <a:ext cx="5314554" cy="200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2"/>
              </a:lnSpc>
            </a:pPr>
            <a:r>
              <a:rPr lang="en-US" sz="6938" b="1" spc="-138">
                <a:solidFill>
                  <a:srgbClr val="0D2B4D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What We Saw in the 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2216" y="3770822"/>
            <a:ext cx="4861258" cy="983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1">
                <a:solidFill>
                  <a:srgbClr val="0F7A85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Monthly mean PM2.5</a:t>
            </a:r>
            <a:r>
              <a:rPr lang="en-US" sz="2896">
                <a:solidFill>
                  <a:srgbClr val="0D2B4D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 across six stations.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5348" y="5201602"/>
            <a:ext cx="4547973" cy="983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>
                <a:solidFill>
                  <a:srgbClr val="0D2B4D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PM2.5 is </a:t>
            </a:r>
            <a:r>
              <a:rPr lang="en-US" sz="2896" b="1">
                <a:solidFill>
                  <a:srgbClr val="0F7A85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generally lower</a:t>
            </a:r>
            <a:r>
              <a:rPr lang="en-US" sz="2896">
                <a:solidFill>
                  <a:srgbClr val="0D2B4D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 in summer.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7602" y="6602260"/>
            <a:ext cx="3322661" cy="983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>
                <a:solidFill>
                  <a:srgbClr val="0D2B4D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Levels </a:t>
            </a:r>
            <a:r>
              <a:rPr lang="en-US" sz="2896" b="1">
                <a:solidFill>
                  <a:srgbClr val="0F7A85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differ across</a:t>
            </a:r>
            <a:r>
              <a:rPr lang="en-US" sz="2896">
                <a:solidFill>
                  <a:srgbClr val="0D2B4D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 the six stations.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7175" y="8047774"/>
            <a:ext cx="3365286" cy="101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2970" b="1">
                <a:solidFill>
                  <a:srgbClr val="0F7A85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Training data</a:t>
            </a:r>
          </a:p>
          <a:p>
            <a:pPr algn="l">
              <a:lnSpc>
                <a:spcPts val="4158"/>
              </a:lnSpc>
            </a:pPr>
            <a:r>
              <a:rPr lang="en-US" sz="2970">
                <a:solidFill>
                  <a:srgbClr val="0D2B4D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covers 2021–2023.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864086" y="426348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20433" y="1330534"/>
            <a:ext cx="11002785" cy="1006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b="1" spc="-153">
                <a:solidFill>
                  <a:srgbClr val="0B294D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Prediction and Evaluation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864086" y="2569017"/>
            <a:ext cx="2406316" cy="2153601"/>
          </a:xfrm>
          <a:custGeom>
            <a:avLst/>
            <a:gdLst/>
            <a:ahLst/>
            <a:cxnLst/>
            <a:rect l="l" t="t" r="r" b="b"/>
            <a:pathLst>
              <a:path w="2406316" h="2153601">
                <a:moveTo>
                  <a:pt x="0" y="0"/>
                </a:moveTo>
                <a:lnTo>
                  <a:pt x="2406316" y="0"/>
                </a:lnTo>
                <a:lnTo>
                  <a:pt x="2406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106990" y="3176620"/>
            <a:ext cx="1815105" cy="86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904" b="1" spc="-58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Prediction task</a:t>
            </a:r>
          </a:p>
        </p:txBody>
      </p:sp>
      <p:sp>
        <p:nvSpPr>
          <p:cNvPr id="7" name="Freeform 7"/>
          <p:cNvSpPr/>
          <p:nvPr/>
        </p:nvSpPr>
        <p:spPr>
          <a:xfrm>
            <a:off x="3040708" y="2569017"/>
            <a:ext cx="7853340" cy="2153601"/>
          </a:xfrm>
          <a:custGeom>
            <a:avLst/>
            <a:gdLst/>
            <a:ahLst/>
            <a:cxnLst/>
            <a:rect l="l" t="t" r="r" b="b"/>
            <a:pathLst>
              <a:path w="7853340" h="2153601">
                <a:moveTo>
                  <a:pt x="0" y="0"/>
                </a:moveTo>
                <a:lnTo>
                  <a:pt x="7853340" y="0"/>
                </a:lnTo>
                <a:lnTo>
                  <a:pt x="785334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3428580" y="2979243"/>
            <a:ext cx="5399824" cy="116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spc="-25">
                <a:solidFill>
                  <a:srgbClr val="0B294D">
                    <a:alpha val="89804"/>
                  </a:srgbClr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Use today's completed PM2.5</a:t>
            </a:r>
          </a:p>
          <a:p>
            <a:pPr algn="l">
              <a:lnSpc>
                <a:spcPts val="3185"/>
              </a:lnSpc>
            </a:pPr>
            <a:r>
              <a:rPr lang="en-US" sz="2654" spc="-25">
                <a:solidFill>
                  <a:srgbClr val="0B294D">
                    <a:alpha val="89804"/>
                  </a:srgbClr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and weather observations to</a:t>
            </a:r>
          </a:p>
          <a:p>
            <a:pPr algn="l">
              <a:lnSpc>
                <a:spcPts val="3185"/>
              </a:lnSpc>
            </a:pPr>
            <a:r>
              <a:rPr lang="en-US" sz="2654" b="1" spc="-25">
                <a:solidFill>
                  <a:srgbClr val="157F89">
                    <a:alpha val="89804"/>
                  </a:srgbClr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predict tomorrow's average PM2.5.</a:t>
            </a:r>
          </a:p>
        </p:txBody>
      </p:sp>
      <p:sp>
        <p:nvSpPr>
          <p:cNvPr id="9" name="Freeform 9"/>
          <p:cNvSpPr/>
          <p:nvPr/>
        </p:nvSpPr>
        <p:spPr>
          <a:xfrm>
            <a:off x="864086" y="4711687"/>
            <a:ext cx="2406316" cy="2361309"/>
          </a:xfrm>
          <a:custGeom>
            <a:avLst/>
            <a:gdLst/>
            <a:ahLst/>
            <a:cxnLst/>
            <a:rect l="l" t="t" r="r" b="b"/>
            <a:pathLst>
              <a:path w="2406316" h="2361309">
                <a:moveTo>
                  <a:pt x="0" y="0"/>
                </a:moveTo>
                <a:lnTo>
                  <a:pt x="2406316" y="0"/>
                </a:lnTo>
                <a:lnTo>
                  <a:pt x="240631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108525" y="5688992"/>
            <a:ext cx="1661609" cy="437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904" b="1" spc="-58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Data split</a:t>
            </a:r>
          </a:p>
        </p:txBody>
      </p:sp>
      <p:sp>
        <p:nvSpPr>
          <p:cNvPr id="11" name="Freeform 11"/>
          <p:cNvSpPr/>
          <p:nvPr/>
        </p:nvSpPr>
        <p:spPr>
          <a:xfrm>
            <a:off x="3040708" y="4711687"/>
            <a:ext cx="2625072" cy="863627"/>
          </a:xfrm>
          <a:custGeom>
            <a:avLst/>
            <a:gdLst/>
            <a:ahLst/>
            <a:cxnLst/>
            <a:rect l="l" t="t" r="r" b="b"/>
            <a:pathLst>
              <a:path w="2625072" h="863627">
                <a:moveTo>
                  <a:pt x="0" y="0"/>
                </a:moveTo>
                <a:lnTo>
                  <a:pt x="2625072" y="0"/>
                </a:lnTo>
                <a:lnTo>
                  <a:pt x="262507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3587169" y="4967274"/>
            <a:ext cx="1707308" cy="383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654" b="1" spc="-25" dirty="0">
                <a:solidFill>
                  <a:srgbClr val="FFFFFF">
                    <a:alpha val="89804"/>
                  </a:srgbClr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2021-2023</a:t>
            </a:r>
          </a:p>
        </p:txBody>
      </p:sp>
      <p:sp>
        <p:nvSpPr>
          <p:cNvPr id="13" name="Freeform 13"/>
          <p:cNvSpPr/>
          <p:nvPr/>
        </p:nvSpPr>
        <p:spPr>
          <a:xfrm>
            <a:off x="3040708" y="5356674"/>
            <a:ext cx="2625072" cy="1716322"/>
          </a:xfrm>
          <a:custGeom>
            <a:avLst/>
            <a:gdLst/>
            <a:ahLst/>
            <a:cxnLst/>
            <a:rect l="l" t="t" r="r" b="b"/>
            <a:pathLst>
              <a:path w="2625072" h="1716322">
                <a:moveTo>
                  <a:pt x="0" y="0"/>
                </a:moveTo>
                <a:lnTo>
                  <a:pt x="2625072" y="0"/>
                </a:lnTo>
                <a:lnTo>
                  <a:pt x="2625072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4039996" y="5991411"/>
            <a:ext cx="801653" cy="383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654" b="1" spc="-25">
                <a:solidFill>
                  <a:srgbClr val="0B294D">
                    <a:alpha val="89804"/>
                  </a:srgbClr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Train</a:t>
            </a:r>
          </a:p>
        </p:txBody>
      </p:sp>
      <p:sp>
        <p:nvSpPr>
          <p:cNvPr id="15" name="Freeform 15"/>
          <p:cNvSpPr/>
          <p:nvPr/>
        </p:nvSpPr>
        <p:spPr>
          <a:xfrm>
            <a:off x="5217330" y="5990729"/>
            <a:ext cx="885962" cy="448211"/>
          </a:xfrm>
          <a:custGeom>
            <a:avLst/>
            <a:gdLst/>
            <a:ahLst/>
            <a:cxnLst/>
            <a:rect l="l" t="t" r="r" b="b"/>
            <a:pathLst>
              <a:path w="885962" h="448211">
                <a:moveTo>
                  <a:pt x="0" y="0"/>
                </a:moveTo>
                <a:lnTo>
                  <a:pt x="885962" y="0"/>
                </a:lnTo>
                <a:lnTo>
                  <a:pt x="88596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5654842" y="4711687"/>
            <a:ext cx="2625072" cy="863627"/>
          </a:xfrm>
          <a:custGeom>
            <a:avLst/>
            <a:gdLst/>
            <a:ahLst/>
            <a:cxnLst/>
            <a:rect l="l" t="t" r="r" b="b"/>
            <a:pathLst>
              <a:path w="2625072" h="863627">
                <a:moveTo>
                  <a:pt x="0" y="0"/>
                </a:moveTo>
                <a:lnTo>
                  <a:pt x="2625072" y="0"/>
                </a:lnTo>
                <a:lnTo>
                  <a:pt x="262507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6634542" y="4967274"/>
            <a:ext cx="787674" cy="383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654" b="1" spc="-25">
                <a:solidFill>
                  <a:srgbClr val="FFFFFF">
                    <a:alpha val="89804"/>
                  </a:srgbClr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2024</a:t>
            </a:r>
          </a:p>
        </p:txBody>
      </p:sp>
      <p:sp>
        <p:nvSpPr>
          <p:cNvPr id="18" name="Freeform 18"/>
          <p:cNvSpPr/>
          <p:nvPr/>
        </p:nvSpPr>
        <p:spPr>
          <a:xfrm>
            <a:off x="5654842" y="5356674"/>
            <a:ext cx="2625072" cy="1716322"/>
          </a:xfrm>
          <a:custGeom>
            <a:avLst/>
            <a:gdLst/>
            <a:ahLst/>
            <a:cxnLst/>
            <a:rect l="l" t="t" r="r" b="b"/>
            <a:pathLst>
              <a:path w="2625072" h="1716322">
                <a:moveTo>
                  <a:pt x="0" y="0"/>
                </a:moveTo>
                <a:lnTo>
                  <a:pt x="2625072" y="0"/>
                </a:lnTo>
                <a:lnTo>
                  <a:pt x="2625072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251361" y="5991411"/>
            <a:ext cx="1554035" cy="383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654" b="1" spc="-25">
                <a:solidFill>
                  <a:srgbClr val="0B294D">
                    <a:alpha val="89804"/>
                  </a:srgbClr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Validation</a:t>
            </a:r>
          </a:p>
        </p:txBody>
      </p:sp>
      <p:sp>
        <p:nvSpPr>
          <p:cNvPr id="20" name="Freeform 20"/>
          <p:cNvSpPr/>
          <p:nvPr/>
        </p:nvSpPr>
        <p:spPr>
          <a:xfrm>
            <a:off x="7831464" y="5990729"/>
            <a:ext cx="885962" cy="448211"/>
          </a:xfrm>
          <a:custGeom>
            <a:avLst/>
            <a:gdLst/>
            <a:ahLst/>
            <a:cxnLst/>
            <a:rect l="l" t="t" r="r" b="b"/>
            <a:pathLst>
              <a:path w="885962" h="448211">
                <a:moveTo>
                  <a:pt x="0" y="0"/>
                </a:moveTo>
                <a:lnTo>
                  <a:pt x="885962" y="0"/>
                </a:lnTo>
                <a:lnTo>
                  <a:pt x="88596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1" name="Freeform 21"/>
          <p:cNvSpPr/>
          <p:nvPr/>
        </p:nvSpPr>
        <p:spPr>
          <a:xfrm>
            <a:off x="8487732" y="4711687"/>
            <a:ext cx="2406316" cy="863627"/>
          </a:xfrm>
          <a:custGeom>
            <a:avLst/>
            <a:gdLst/>
            <a:ahLst/>
            <a:cxnLst/>
            <a:rect l="l" t="t" r="r" b="b"/>
            <a:pathLst>
              <a:path w="2406316" h="863627">
                <a:moveTo>
                  <a:pt x="0" y="0"/>
                </a:moveTo>
                <a:lnTo>
                  <a:pt x="2406316" y="0"/>
                </a:lnTo>
                <a:lnTo>
                  <a:pt x="240631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9274068" y="4967274"/>
            <a:ext cx="787674" cy="383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654" b="1" spc="-25">
                <a:solidFill>
                  <a:srgbClr val="FFFFFF">
                    <a:alpha val="89804"/>
                  </a:srgbClr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2025</a:t>
            </a:r>
          </a:p>
        </p:txBody>
      </p:sp>
      <p:sp>
        <p:nvSpPr>
          <p:cNvPr id="23" name="Freeform 23"/>
          <p:cNvSpPr/>
          <p:nvPr/>
        </p:nvSpPr>
        <p:spPr>
          <a:xfrm>
            <a:off x="8487732" y="5356674"/>
            <a:ext cx="2406316" cy="1716322"/>
          </a:xfrm>
          <a:custGeom>
            <a:avLst/>
            <a:gdLst/>
            <a:ahLst/>
            <a:cxnLst/>
            <a:rect l="l" t="t" r="r" b="b"/>
            <a:pathLst>
              <a:path w="2406316" h="1716322">
                <a:moveTo>
                  <a:pt x="0" y="0"/>
                </a:moveTo>
                <a:lnTo>
                  <a:pt x="2406316" y="0"/>
                </a:lnTo>
                <a:lnTo>
                  <a:pt x="2406316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8768135" y="5999135"/>
            <a:ext cx="1901339" cy="65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sz="2179" b="1" spc="-21">
                <a:solidFill>
                  <a:srgbClr val="0B294D">
                    <a:alpha val="89804"/>
                  </a:srgbClr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Final test</a:t>
            </a:r>
          </a:p>
          <a:p>
            <a:pPr algn="ctr">
              <a:lnSpc>
                <a:spcPts val="2616"/>
              </a:lnSpc>
            </a:pPr>
            <a:r>
              <a:rPr lang="en-US" sz="2179" b="1" spc="-21">
                <a:solidFill>
                  <a:srgbClr val="0B294D">
                    <a:alpha val="89804"/>
                  </a:srgbClr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not yet examined</a:t>
            </a:r>
          </a:p>
        </p:txBody>
      </p:sp>
      <p:sp>
        <p:nvSpPr>
          <p:cNvPr id="25" name="Freeform 25"/>
          <p:cNvSpPr/>
          <p:nvPr/>
        </p:nvSpPr>
        <p:spPr>
          <a:xfrm>
            <a:off x="864086" y="7280704"/>
            <a:ext cx="2406316" cy="1934962"/>
          </a:xfrm>
          <a:custGeom>
            <a:avLst/>
            <a:gdLst/>
            <a:ahLst/>
            <a:cxnLst/>
            <a:rect l="l" t="t" r="r" b="b"/>
            <a:pathLst>
              <a:path w="2406316" h="1934962">
                <a:moveTo>
                  <a:pt x="0" y="0"/>
                </a:moveTo>
                <a:lnTo>
                  <a:pt x="2406316" y="0"/>
                </a:lnTo>
                <a:lnTo>
                  <a:pt x="240631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1106725" y="7800298"/>
            <a:ext cx="1841521" cy="86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904" b="1" spc="-58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Evaluation metric</a:t>
            </a:r>
          </a:p>
        </p:txBody>
      </p:sp>
      <p:sp>
        <p:nvSpPr>
          <p:cNvPr id="27" name="Freeform 27"/>
          <p:cNvSpPr/>
          <p:nvPr/>
        </p:nvSpPr>
        <p:spPr>
          <a:xfrm>
            <a:off x="3040708" y="7280704"/>
            <a:ext cx="7853340" cy="1934962"/>
          </a:xfrm>
          <a:custGeom>
            <a:avLst/>
            <a:gdLst/>
            <a:ahLst/>
            <a:cxnLst/>
            <a:rect l="l" t="t" r="r" b="b"/>
            <a:pathLst>
              <a:path w="7853340" h="1934962">
                <a:moveTo>
                  <a:pt x="0" y="0"/>
                </a:moveTo>
                <a:lnTo>
                  <a:pt x="7853340" y="0"/>
                </a:lnTo>
                <a:lnTo>
                  <a:pt x="785334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3445007" y="7617982"/>
            <a:ext cx="3870193" cy="1205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1" spc="-25" dirty="0">
                <a:solidFill>
                  <a:srgbClr val="157F89">
                    <a:alpha val="89804"/>
                  </a:srgbClr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MAE</a:t>
            </a:r>
            <a:r>
              <a:rPr lang="en-US" sz="2654" spc="-25" dirty="0">
                <a:solidFill>
                  <a:srgbClr val="0B294D">
                    <a:alpha val="89804"/>
                  </a:srgbClr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:</a:t>
            </a:r>
          </a:p>
          <a:p>
            <a:pPr algn="l">
              <a:lnSpc>
                <a:spcPts val="3185"/>
              </a:lnSpc>
            </a:pPr>
            <a:r>
              <a:rPr lang="en-US" sz="2654" spc="-25" dirty="0">
                <a:solidFill>
                  <a:srgbClr val="0B294D">
                    <a:alpha val="89804"/>
                  </a:srgbClr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mean absolute error.</a:t>
            </a:r>
          </a:p>
          <a:p>
            <a:pPr algn="l">
              <a:lnSpc>
                <a:spcPts val="3185"/>
              </a:lnSpc>
            </a:pPr>
            <a:r>
              <a:rPr lang="en-US" sz="2654" spc="-25" dirty="0">
                <a:solidFill>
                  <a:srgbClr val="0B294D">
                    <a:alpha val="89804"/>
                  </a:srgbClr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Lower is better.</a:t>
            </a:r>
          </a:p>
        </p:txBody>
      </p:sp>
      <p:sp>
        <p:nvSpPr>
          <p:cNvPr id="29" name="Freeform 29"/>
          <p:cNvSpPr/>
          <p:nvPr/>
        </p:nvSpPr>
        <p:spPr>
          <a:xfrm>
            <a:off x="11320622" y="634055"/>
            <a:ext cx="6967378" cy="9226597"/>
          </a:xfrm>
          <a:custGeom>
            <a:avLst/>
            <a:gdLst/>
            <a:ahLst/>
            <a:cxnLst/>
            <a:rect l="l" t="t" r="r" b="b"/>
            <a:pathLst>
              <a:path w="6967378" h="9226597">
                <a:moveTo>
                  <a:pt x="0" y="0"/>
                </a:moveTo>
                <a:lnTo>
                  <a:pt x="6967378" y="0"/>
                </a:lnTo>
                <a:lnTo>
                  <a:pt x="6967378" y="9226597"/>
                </a:lnTo>
                <a:lnTo>
                  <a:pt x="0" y="922659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645330" y="426348"/>
            <a:ext cx="2187560" cy="437279"/>
          </a:xfrm>
          <a:custGeom>
            <a:avLst/>
            <a:gdLst/>
            <a:ahLst/>
            <a:cxnLst/>
            <a:rect l="l" t="t" r="r" b="b"/>
            <a:pathLst>
              <a:path w="2187560" h="437279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95651" y="1416101"/>
            <a:ext cx="6159908" cy="983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12"/>
              </a:lnSpc>
            </a:pPr>
            <a:r>
              <a:rPr lang="en-US" sz="7412" b="1" spc="-148">
                <a:solidFill>
                  <a:srgbClr val="0F2F56"/>
                </a:solidFill>
                <a:latin typeface="Inter Bold"/>
                <a:ea typeface="Inter Bold"/>
                <a:cs typeface="Inter Bold"/>
                <a:sym typeface="Inter Bold"/>
              </a:rPr>
              <a:t>Three Models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995365"/>
            <a:ext cx="2187560" cy="2153601"/>
          </a:xfrm>
          <a:custGeom>
            <a:avLst/>
            <a:gdLst/>
            <a:ahLst/>
            <a:cxnLst/>
            <a:rect l="l" t="t" r="r" b="b"/>
            <a:pathLst>
              <a:path w="2187560" h="2153601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312938" y="3627889"/>
            <a:ext cx="847594" cy="91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6936" b="1" spc="-138">
                <a:solidFill>
                  <a:srgbClr val="F8F8F8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>
            <a:off x="2603196" y="2995365"/>
            <a:ext cx="6332986" cy="2153601"/>
          </a:xfrm>
          <a:custGeom>
            <a:avLst/>
            <a:gdLst/>
            <a:ahLst/>
            <a:cxnLst/>
            <a:rect l="l" t="t" r="r" b="b"/>
            <a:pathLst>
              <a:path w="6332986" h="2153601">
                <a:moveTo>
                  <a:pt x="0" y="0"/>
                </a:moveTo>
                <a:lnTo>
                  <a:pt x="6332986" y="0"/>
                </a:lnTo>
                <a:lnTo>
                  <a:pt x="633298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980193" y="3479887"/>
            <a:ext cx="2018193" cy="48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>
                <a:solidFill>
                  <a:srgbClr val="0D6B7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Persistence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55781" y="4046942"/>
            <a:ext cx="4459370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0F2F56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tomorrow equals today’s PM2.5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4919394"/>
            <a:ext cx="2187560" cy="2153601"/>
          </a:xfrm>
          <a:custGeom>
            <a:avLst/>
            <a:gdLst/>
            <a:ahLst/>
            <a:cxnLst/>
            <a:rect l="l" t="t" r="r" b="b"/>
            <a:pathLst>
              <a:path w="2187560" h="2153601">
                <a:moveTo>
                  <a:pt x="0" y="0"/>
                </a:moveTo>
                <a:lnTo>
                  <a:pt x="2187560" y="0"/>
                </a:lnTo>
                <a:lnTo>
                  <a:pt x="218756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312938" y="5661103"/>
            <a:ext cx="847594" cy="91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6936" b="1" spc="-138">
                <a:solidFill>
                  <a:srgbClr val="F8F8F8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02</a:t>
            </a:r>
          </a:p>
        </p:txBody>
      </p:sp>
      <p:sp>
        <p:nvSpPr>
          <p:cNvPr id="12" name="Freeform 12"/>
          <p:cNvSpPr/>
          <p:nvPr/>
        </p:nvSpPr>
        <p:spPr>
          <a:xfrm>
            <a:off x="2603196" y="4919394"/>
            <a:ext cx="6332986" cy="2153601"/>
          </a:xfrm>
          <a:custGeom>
            <a:avLst/>
            <a:gdLst/>
            <a:ahLst/>
            <a:cxnLst/>
            <a:rect l="l" t="t" r="r" b="b"/>
            <a:pathLst>
              <a:path w="6332986" h="2153601">
                <a:moveTo>
                  <a:pt x="0" y="0"/>
                </a:moveTo>
                <a:lnTo>
                  <a:pt x="6332986" y="0"/>
                </a:lnTo>
                <a:lnTo>
                  <a:pt x="633298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2967119" y="5482979"/>
            <a:ext cx="3325647" cy="48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>
                <a:solidFill>
                  <a:srgbClr val="0D6B7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PM-only regression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46092" y="6034973"/>
            <a:ext cx="5428304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0F2F56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today’s PM2.5 + station + target month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5330" y="6854356"/>
            <a:ext cx="2187560" cy="2361309"/>
          </a:xfrm>
          <a:custGeom>
            <a:avLst/>
            <a:gdLst/>
            <a:ahLst/>
            <a:cxnLst/>
            <a:rect l="l" t="t" r="r" b="b"/>
            <a:pathLst>
              <a:path w="2187560" h="2361309">
                <a:moveTo>
                  <a:pt x="0" y="0"/>
                </a:moveTo>
                <a:lnTo>
                  <a:pt x="2187560" y="0"/>
                </a:lnTo>
                <a:lnTo>
                  <a:pt x="218756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312938" y="7679255"/>
            <a:ext cx="847594" cy="91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6936" b="1" spc="-138">
                <a:solidFill>
                  <a:srgbClr val="F8F8F8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03</a:t>
            </a:r>
          </a:p>
        </p:txBody>
      </p:sp>
      <p:sp>
        <p:nvSpPr>
          <p:cNvPr id="17" name="Freeform 17"/>
          <p:cNvSpPr/>
          <p:nvPr/>
        </p:nvSpPr>
        <p:spPr>
          <a:xfrm>
            <a:off x="2603196" y="6854356"/>
            <a:ext cx="6332986" cy="2361309"/>
          </a:xfrm>
          <a:custGeom>
            <a:avLst/>
            <a:gdLst/>
            <a:ahLst/>
            <a:cxnLst/>
            <a:rect l="l" t="t" r="r" b="b"/>
            <a:pathLst>
              <a:path w="6332986" h="2361309">
                <a:moveTo>
                  <a:pt x="0" y="0"/>
                </a:moveTo>
                <a:lnTo>
                  <a:pt x="6332986" y="0"/>
                </a:lnTo>
                <a:lnTo>
                  <a:pt x="633298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2966463" y="7260158"/>
            <a:ext cx="3391220" cy="48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>
                <a:solidFill>
                  <a:srgbClr val="0D6B7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Weather regression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52590" y="7827325"/>
            <a:ext cx="4778508" cy="83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>
                <a:solidFill>
                  <a:srgbClr val="0F2F56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PM-only inputs + temperature,</a:t>
            </a:r>
          </a:p>
          <a:p>
            <a:pPr algn="l">
              <a:lnSpc>
                <a:spcPts val="3467"/>
              </a:lnSpc>
            </a:pPr>
            <a:r>
              <a:rPr lang="en-US" sz="2311">
                <a:solidFill>
                  <a:srgbClr val="0F2F56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humidity, precipitation, wind speed</a:t>
            </a:r>
          </a:p>
        </p:txBody>
      </p:sp>
      <p:sp>
        <p:nvSpPr>
          <p:cNvPr id="20" name="Freeform 20"/>
          <p:cNvSpPr/>
          <p:nvPr/>
        </p:nvSpPr>
        <p:spPr>
          <a:xfrm>
            <a:off x="9144000" y="3421712"/>
            <a:ext cx="1531292" cy="1300906"/>
          </a:xfrm>
          <a:custGeom>
            <a:avLst/>
            <a:gdLst/>
            <a:ahLst/>
            <a:cxnLst/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9925425" y="5189510"/>
            <a:ext cx="1149631" cy="86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9"/>
              </a:lnSpc>
            </a:pPr>
            <a:r>
              <a:rPr lang="en-US" sz="6569" b="1" spc="-131">
                <a:solidFill>
                  <a:srgbClr val="0D6B7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VS.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35070" y="6119361"/>
            <a:ext cx="2786062" cy="1061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sz="2254">
                <a:solidFill>
                  <a:srgbClr val="0F2F56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weather regression</a:t>
            </a:r>
          </a:p>
          <a:p>
            <a:pPr algn="ctr">
              <a:lnSpc>
                <a:spcPts val="2930"/>
              </a:lnSpc>
            </a:pPr>
            <a:r>
              <a:rPr lang="en-US" sz="2254">
                <a:solidFill>
                  <a:srgbClr val="0F2F56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versus</a:t>
            </a:r>
          </a:p>
          <a:p>
            <a:pPr algn="ctr">
              <a:lnSpc>
                <a:spcPts val="2930"/>
              </a:lnSpc>
            </a:pPr>
            <a:r>
              <a:rPr lang="en-US" sz="2254">
                <a:solidFill>
                  <a:srgbClr val="0F2F56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PM-only regression</a:t>
            </a:r>
          </a:p>
        </p:txBody>
      </p:sp>
      <p:sp>
        <p:nvSpPr>
          <p:cNvPr id="23" name="Freeform 23"/>
          <p:cNvSpPr/>
          <p:nvPr/>
        </p:nvSpPr>
        <p:spPr>
          <a:xfrm>
            <a:off x="9144000" y="7280704"/>
            <a:ext cx="1531292" cy="1300906"/>
          </a:xfrm>
          <a:custGeom>
            <a:avLst/>
            <a:gdLst/>
            <a:ahLst/>
            <a:cxnLst/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Freeform 24"/>
          <p:cNvSpPr/>
          <p:nvPr/>
        </p:nvSpPr>
        <p:spPr>
          <a:xfrm>
            <a:off x="11965952" y="426348"/>
            <a:ext cx="5895474" cy="9434305"/>
          </a:xfrm>
          <a:custGeom>
            <a:avLst/>
            <a:gdLst/>
            <a:ahLst/>
            <a:cxnLst/>
            <a:rect l="l" t="t" r="r" b="b"/>
            <a:pathLst>
              <a:path w="5895474" h="9434305">
                <a:moveTo>
                  <a:pt x="0" y="0"/>
                </a:moveTo>
                <a:lnTo>
                  <a:pt x="5895474" y="0"/>
                </a:lnTo>
                <a:lnTo>
                  <a:pt x="5895474" y="9434304"/>
                </a:lnTo>
                <a:lnTo>
                  <a:pt x="0" y="94343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64086" y="426348"/>
            <a:ext cx="1531292" cy="437279"/>
          </a:xfrm>
          <a:custGeom>
            <a:avLst/>
            <a:gdLst/>
            <a:ahLst/>
            <a:cxnLst/>
            <a:rect l="l" t="t" r="r" b="b"/>
            <a:pathLst>
              <a:path w="1531292" h="437279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873397" y="1290845"/>
            <a:ext cx="6422039" cy="951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b="1" spc="-361">
                <a:solidFill>
                  <a:srgbClr val="143256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Overall 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7746" y="2681139"/>
            <a:ext cx="3987143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>
                <a:solidFill>
                  <a:srgbClr val="0F707D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2024 </a:t>
            </a:r>
            <a:r>
              <a:rPr lang="en-US" sz="2759" b="1">
                <a:solidFill>
                  <a:srgbClr val="143256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validation results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2950" y="3078089"/>
            <a:ext cx="6466712" cy="29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>
                <a:solidFill>
                  <a:srgbClr val="143256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Exact results for the same 2,181 observations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864086" y="3640352"/>
            <a:ext cx="16559828" cy="1289974"/>
          </a:xfrm>
          <a:custGeom>
            <a:avLst/>
            <a:gdLst/>
            <a:ahLst/>
            <a:cxnLst/>
            <a:rect l="l" t="t" r="r" b="b"/>
            <a:pathLst>
              <a:path w="16559828" h="1289974">
                <a:moveTo>
                  <a:pt x="0" y="0"/>
                </a:moveTo>
                <a:lnTo>
                  <a:pt x="16559828" y="0"/>
                </a:lnTo>
                <a:lnTo>
                  <a:pt x="1655982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301856" y="4157101"/>
            <a:ext cx="1080789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>
                <a:solidFill>
                  <a:srgbClr val="FFFFFF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93643" y="4157101"/>
            <a:ext cx="2325581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>
                <a:solidFill>
                  <a:srgbClr val="FFFFFF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Observations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21401" y="4157101"/>
            <a:ext cx="815038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759" b="1">
                <a:solidFill>
                  <a:srgbClr val="FFFFFF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MAE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919816" y="4157101"/>
            <a:ext cx="1025646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759" b="1">
                <a:solidFill>
                  <a:srgbClr val="FFFFFF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RMSE</a:t>
            </a:r>
          </a:p>
        </p:txBody>
      </p:sp>
      <p:sp>
        <p:nvSpPr>
          <p:cNvPr id="12" name="Freeform 12"/>
          <p:cNvSpPr/>
          <p:nvPr/>
        </p:nvSpPr>
        <p:spPr>
          <a:xfrm>
            <a:off x="864086" y="4711687"/>
            <a:ext cx="16559828" cy="3432644"/>
          </a:xfrm>
          <a:custGeom>
            <a:avLst/>
            <a:gdLst/>
            <a:ahLst/>
            <a:cxnLst/>
            <a:rect l="l" t="t" r="r" b="b"/>
            <a:pathLst>
              <a:path w="16559828" h="3432644">
                <a:moveTo>
                  <a:pt x="0" y="0"/>
                </a:moveTo>
                <a:lnTo>
                  <a:pt x="16559828" y="0"/>
                </a:lnTo>
                <a:lnTo>
                  <a:pt x="16559828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292114" y="5241482"/>
            <a:ext cx="2055028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>
                <a:solidFill>
                  <a:srgbClr val="143256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Persistence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29519" y="5241482"/>
            <a:ext cx="829269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759">
                <a:solidFill>
                  <a:srgbClr val="143256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2,181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99681" y="5232068"/>
            <a:ext cx="969570" cy="40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32"/>
              </a:lnSpc>
            </a:pPr>
            <a:r>
              <a:rPr lang="en-US" sz="3032" b="1">
                <a:solidFill>
                  <a:srgbClr val="0F689D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4.131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99436" y="5232068"/>
            <a:ext cx="1147243" cy="40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32"/>
              </a:lnSpc>
            </a:pPr>
            <a:r>
              <a:rPr lang="en-US" sz="3032" b="1">
                <a:solidFill>
                  <a:srgbClr val="0F689D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5.844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8455" y="6340923"/>
            <a:ext cx="3420956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>
                <a:solidFill>
                  <a:srgbClr val="143256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PM-only regression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29519" y="6340923"/>
            <a:ext cx="829269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759">
                <a:solidFill>
                  <a:srgbClr val="143256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2,181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51487" y="6331510"/>
            <a:ext cx="1119261" cy="40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32"/>
              </a:lnSpc>
            </a:pPr>
            <a:r>
              <a:rPr lang="en-US" sz="3032" b="1">
                <a:solidFill>
                  <a:srgbClr val="0F707D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3.922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10242" y="6331510"/>
            <a:ext cx="1035317" cy="40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32"/>
              </a:lnSpc>
            </a:pPr>
            <a:r>
              <a:rPr lang="en-US" sz="3032" b="1">
                <a:solidFill>
                  <a:srgbClr val="0F689D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5.331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8312" y="7425304"/>
            <a:ext cx="3435186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>
                <a:solidFill>
                  <a:srgbClr val="143256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Weather regression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29519" y="7425304"/>
            <a:ext cx="829269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759">
                <a:solidFill>
                  <a:srgbClr val="143256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2,181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17199" y="7415890"/>
            <a:ext cx="1153896" cy="40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32"/>
              </a:lnSpc>
            </a:pPr>
            <a:r>
              <a:rPr lang="en-US" sz="3032" b="1">
                <a:solidFill>
                  <a:srgbClr val="0F707D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3.904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919347" y="7415890"/>
            <a:ext cx="1026120" cy="40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32"/>
              </a:lnSpc>
            </a:pPr>
            <a:r>
              <a:rPr lang="en-US" sz="3032" b="1">
                <a:solidFill>
                  <a:srgbClr val="0F689D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5.315</a:t>
            </a:r>
          </a:p>
        </p:txBody>
      </p:sp>
      <p:sp>
        <p:nvSpPr>
          <p:cNvPr id="25" name="Freeform 25"/>
          <p:cNvSpPr/>
          <p:nvPr/>
        </p:nvSpPr>
        <p:spPr>
          <a:xfrm>
            <a:off x="864086" y="8570678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1170584" y="8850408"/>
            <a:ext cx="8850149" cy="49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755" b="1">
                <a:solidFill>
                  <a:srgbClr val="143256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Adding weather reduced </a:t>
            </a:r>
            <a:r>
              <a:rPr lang="en-US" sz="3755" b="1">
                <a:solidFill>
                  <a:srgbClr val="0F707D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MAE</a:t>
            </a:r>
            <a:r>
              <a:rPr lang="en-US" sz="3755" b="1">
                <a:solidFill>
                  <a:srgbClr val="143256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 by only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92403" y="8713084"/>
            <a:ext cx="2531272" cy="797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sz="6008" b="1" dirty="0">
                <a:solidFill>
                  <a:srgbClr val="0F707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0.46%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726688" y="8850408"/>
            <a:ext cx="3701212" cy="49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755" b="1" dirty="0">
                <a:solidFill>
                  <a:srgbClr val="143256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versus PM-only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45330" y="426348"/>
            <a:ext cx="2187560" cy="437279"/>
          </a:xfrm>
          <a:custGeom>
            <a:avLst/>
            <a:gdLst/>
            <a:ahLst/>
            <a:cxnLst/>
            <a:rect l="l" t="t" r="r" b="b"/>
            <a:pathLst>
              <a:path w="2187560" h="437279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37971" y="1299033"/>
            <a:ext cx="11927866" cy="1234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sz="9357" b="1" spc="-278">
                <a:solidFill>
                  <a:srgbClr val="08214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Results Vary by Station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5505" y="3672331"/>
            <a:ext cx="3211234" cy="1152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 b="1" spc="-63">
                <a:solidFill>
                  <a:srgbClr val="082149"/>
                </a:solidFill>
                <a:latin typeface="Inter Medium"/>
                <a:ea typeface="Inter Medium"/>
                <a:cs typeface="Inter Medium"/>
                <a:sym typeface="Inter Medium"/>
              </a:rPr>
              <a:t>MAE improved at</a:t>
            </a:r>
          </a:p>
          <a:p>
            <a:pPr algn="l">
              <a:lnSpc>
                <a:spcPts val="4752"/>
              </a:lnSpc>
            </a:pPr>
            <a:r>
              <a:rPr lang="en-US" sz="3168" b="1" spc="-63">
                <a:solidFill>
                  <a:srgbClr val="0C669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</a:t>
            </a:r>
            <a:r>
              <a:rPr lang="en-US" sz="3168" b="1" spc="-63">
                <a:solidFill>
                  <a:srgbClr val="082149"/>
                </a:solidFill>
                <a:latin typeface="Inter Medium"/>
                <a:ea typeface="Inter Medium"/>
                <a:cs typeface="Inter Medium"/>
                <a:sym typeface="Inter Medium"/>
              </a:rPr>
              <a:t> of 6 stations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4059" y="5463243"/>
            <a:ext cx="4355866" cy="105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3102" b="1" spc="-62">
                <a:solidFill>
                  <a:srgbClr val="0C669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Zhongming</a:t>
            </a:r>
            <a:r>
              <a:rPr lang="en-US" sz="3102" b="1" spc="-62">
                <a:solidFill>
                  <a:srgbClr val="082149"/>
                </a:solidFill>
                <a:latin typeface="Inter Medium"/>
                <a:ea typeface="Inter Medium"/>
                <a:cs typeface="Inter Medium"/>
                <a:sym typeface="Inter Medium"/>
              </a:rPr>
              <a:t> and </a:t>
            </a:r>
            <a:r>
              <a:rPr lang="en-US" sz="3102" b="1" spc="-62">
                <a:solidFill>
                  <a:srgbClr val="0C669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Nantou</a:t>
            </a:r>
          </a:p>
          <a:p>
            <a:pPr algn="l">
              <a:lnSpc>
                <a:spcPts val="4343"/>
              </a:lnSpc>
            </a:pPr>
            <a:r>
              <a:rPr lang="en-US" sz="3102" b="1" spc="-62">
                <a:solidFill>
                  <a:srgbClr val="082149"/>
                </a:solidFill>
                <a:latin typeface="Inter Medium"/>
                <a:ea typeface="Inter Medium"/>
                <a:cs typeface="Inter Medium"/>
                <a:sym typeface="Inter Medium"/>
              </a:rPr>
              <a:t>had the largest gains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4797" y="7165118"/>
            <a:ext cx="5282001" cy="105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3102" b="1" spc="-62">
                <a:solidFill>
                  <a:srgbClr val="082149"/>
                </a:solidFill>
                <a:latin typeface="Inter Medium"/>
                <a:ea typeface="Inter Medium"/>
                <a:cs typeface="Inter Medium"/>
                <a:sym typeface="Inter Medium"/>
              </a:rPr>
              <a:t>Gains were small and inconsistent across locations</a:t>
            </a:r>
          </a:p>
        </p:txBody>
      </p:sp>
      <p:sp>
        <p:nvSpPr>
          <p:cNvPr id="8" name="Freeform 8"/>
          <p:cNvSpPr/>
          <p:nvPr/>
        </p:nvSpPr>
        <p:spPr>
          <a:xfrm>
            <a:off x="6956440" y="2995365"/>
            <a:ext cx="229694" cy="6012593"/>
          </a:xfrm>
          <a:custGeom>
            <a:avLst/>
            <a:gdLst/>
            <a:ahLst/>
            <a:cxnLst/>
            <a:rect l="l" t="t" r="r" b="b"/>
            <a:pathLst>
              <a:path w="229694" h="6012593">
                <a:moveTo>
                  <a:pt x="0" y="0"/>
                </a:moveTo>
                <a:lnTo>
                  <a:pt x="229694" y="0"/>
                </a:lnTo>
                <a:lnTo>
                  <a:pt x="229694" y="6012592"/>
                </a:lnTo>
                <a:lnTo>
                  <a:pt x="0" y="6012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7940553" y="3384377"/>
            <a:ext cx="1579844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46">
                <a:solidFill>
                  <a:srgbClr val="08214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Zhongshan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6161" y="4333210"/>
            <a:ext cx="1019034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46">
                <a:solidFill>
                  <a:srgbClr val="08214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Nantou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0386" y="5282043"/>
            <a:ext cx="1596596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46">
                <a:solidFill>
                  <a:srgbClr val="08214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Zhongming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07" y="7239952"/>
            <a:ext cx="1254445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46">
                <a:solidFill>
                  <a:srgbClr val="08214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Pingtung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2070" y="8188785"/>
            <a:ext cx="1428190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46">
                <a:solidFill>
                  <a:srgbClr val="08214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Chaozhou</a:t>
            </a:r>
          </a:p>
        </p:txBody>
      </p:sp>
      <p:sp>
        <p:nvSpPr>
          <p:cNvPr id="14" name="Freeform 14"/>
          <p:cNvSpPr/>
          <p:nvPr/>
        </p:nvSpPr>
        <p:spPr>
          <a:xfrm>
            <a:off x="7831464" y="5990729"/>
            <a:ext cx="9592450" cy="229572"/>
          </a:xfrm>
          <a:custGeom>
            <a:avLst/>
            <a:gdLst/>
            <a:ahLst/>
            <a:cxnLst/>
            <a:rect l="l" t="t" r="r" b="b"/>
            <a:pathLst>
              <a:path w="9592450" h="229572">
                <a:moveTo>
                  <a:pt x="0" y="0"/>
                </a:moveTo>
                <a:lnTo>
                  <a:pt x="9592450" y="0"/>
                </a:lnTo>
                <a:lnTo>
                  <a:pt x="9592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>
            <a:off x="10883110" y="2995365"/>
            <a:ext cx="229694" cy="6012593"/>
          </a:xfrm>
          <a:custGeom>
            <a:avLst/>
            <a:gdLst/>
            <a:ahLst/>
            <a:cxnLst/>
            <a:rect l="l" t="t" r="r" b="b"/>
            <a:pathLst>
              <a:path w="229694" h="6012593">
                <a:moveTo>
                  <a:pt x="0" y="0"/>
                </a:moveTo>
                <a:lnTo>
                  <a:pt x="229694" y="0"/>
                </a:lnTo>
                <a:lnTo>
                  <a:pt x="229694" y="6012592"/>
                </a:lnTo>
                <a:lnTo>
                  <a:pt x="0" y="60125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10883110" y="3214004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0883110" y="4285339"/>
            <a:ext cx="3489158" cy="644987"/>
          </a:xfrm>
          <a:custGeom>
            <a:avLst/>
            <a:gdLst/>
            <a:ahLst/>
            <a:cxnLst/>
            <a:rect l="l" t="t" r="r" b="b"/>
            <a:pathLst>
              <a:path w="3489158" h="644987">
                <a:moveTo>
                  <a:pt x="0" y="0"/>
                </a:moveTo>
                <a:lnTo>
                  <a:pt x="3489158" y="0"/>
                </a:lnTo>
                <a:lnTo>
                  <a:pt x="348915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0883110" y="5138034"/>
            <a:ext cx="4801694" cy="863627"/>
          </a:xfrm>
          <a:custGeom>
            <a:avLst/>
            <a:gdLst/>
            <a:ahLst/>
            <a:cxnLst/>
            <a:rect l="l" t="t" r="r" b="b"/>
            <a:pathLst>
              <a:path w="4801694" h="863627">
                <a:moveTo>
                  <a:pt x="0" y="0"/>
                </a:moveTo>
                <a:lnTo>
                  <a:pt x="4801694" y="0"/>
                </a:lnTo>
                <a:lnTo>
                  <a:pt x="4801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10226842" y="6209369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Freeform 20"/>
          <p:cNvSpPr/>
          <p:nvPr/>
        </p:nvSpPr>
        <p:spPr>
          <a:xfrm>
            <a:off x="9789330" y="7062064"/>
            <a:ext cx="1323474" cy="874559"/>
          </a:xfrm>
          <a:custGeom>
            <a:avLst/>
            <a:gdLst/>
            <a:ahLst/>
            <a:cxnLst/>
            <a:rect l="l" t="t" r="r" b="b"/>
            <a:pathLst>
              <a:path w="1323474" h="874559">
                <a:moveTo>
                  <a:pt x="0" y="0"/>
                </a:moveTo>
                <a:lnTo>
                  <a:pt x="1323474" y="0"/>
                </a:lnTo>
                <a:lnTo>
                  <a:pt x="132347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1" name="Freeform 21"/>
          <p:cNvSpPr/>
          <p:nvPr/>
        </p:nvSpPr>
        <p:spPr>
          <a:xfrm>
            <a:off x="10008086" y="8133399"/>
            <a:ext cx="1104718" cy="655919"/>
          </a:xfrm>
          <a:custGeom>
            <a:avLst/>
            <a:gdLst/>
            <a:ahLst/>
            <a:cxnLst/>
            <a:rect l="l" t="t" r="r" b="b"/>
            <a:pathLst>
              <a:path w="1104718" h="655919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15926550" y="3344340"/>
            <a:ext cx="1294221" cy="48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0C6696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+0.10%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26783" y="5242006"/>
            <a:ext cx="1270919" cy="48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005963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+2.31%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26632" y="6266143"/>
            <a:ext cx="1286038" cy="48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08214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−0.18%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925965" y="7199915"/>
            <a:ext cx="1352743" cy="48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08214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−0.47%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926527" y="8148748"/>
            <a:ext cx="1296533" cy="48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08214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−0.41%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927511" y="4293173"/>
            <a:ext cx="1198167" cy="48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005963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+1.61%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46057" y="6306180"/>
            <a:ext cx="1029411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46">
                <a:solidFill>
                  <a:srgbClr val="082149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Tamsui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0008086" y="0"/>
            <a:ext cx="8279914" cy="10287000"/>
          </a:xfrm>
          <a:custGeom>
            <a:avLst/>
            <a:gdLst/>
            <a:ahLst/>
            <a:cxnLst/>
            <a:rect l="l" t="t" r="r" b="b"/>
            <a:pathLst>
              <a:path w="8279914" h="10287000">
                <a:moveTo>
                  <a:pt x="0" y="0"/>
                </a:moveTo>
                <a:lnTo>
                  <a:pt x="8279914" y="0"/>
                </a:lnTo>
                <a:lnTo>
                  <a:pt x="8279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9351818" y="0"/>
            <a:ext cx="4364182" cy="10287000"/>
          </a:xfrm>
          <a:custGeom>
            <a:avLst/>
            <a:gdLst/>
            <a:ahLst/>
            <a:cxnLst/>
            <a:rect l="l" t="t" r="r" b="b"/>
            <a:pathLst>
              <a:path w="4364182" h="10287000">
                <a:moveTo>
                  <a:pt x="0" y="0"/>
                </a:moveTo>
                <a:lnTo>
                  <a:pt x="4364182" y="0"/>
                </a:lnTo>
                <a:lnTo>
                  <a:pt x="4364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645330" y="426348"/>
            <a:ext cx="2187560" cy="437279"/>
          </a:xfrm>
          <a:custGeom>
            <a:avLst/>
            <a:gdLst/>
            <a:ahLst/>
            <a:cxnLst/>
            <a:rect l="l" t="t" r="r" b="b"/>
            <a:pathLst>
              <a:path w="2187560" h="437279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840362" y="1237570"/>
            <a:ext cx="7046662" cy="2646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35"/>
              </a:lnSpc>
            </a:pPr>
            <a:r>
              <a:rPr lang="en-US" sz="9569" b="1" spc="-285" dirty="0">
                <a:solidFill>
                  <a:srgbClr val="07294B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What We Can Say So Far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3145" y="4371604"/>
            <a:ext cx="7447261" cy="85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07294B"/>
                </a:solidFill>
                <a:latin typeface="Inter"/>
                <a:ea typeface="Inter"/>
                <a:cs typeface="Inter"/>
                <a:sym typeface="Inter"/>
              </a:rPr>
              <a:t>Weather data gives a </a:t>
            </a:r>
            <a:r>
              <a:rPr lang="en-US" sz="2654" b="1" spc="-25">
                <a:solidFill>
                  <a:srgbClr val="056D77"/>
                </a:solidFill>
                <a:latin typeface="Inter Bold"/>
                <a:ea typeface="Inter Bold"/>
                <a:cs typeface="Inter Bold"/>
                <a:sym typeface="Inter Bold"/>
              </a:rPr>
              <a:t>small overall improvement</a:t>
            </a:r>
            <a:r>
              <a:rPr lang="en-US" sz="2654" spc="-25">
                <a:solidFill>
                  <a:srgbClr val="07294B"/>
                </a:solidFill>
                <a:latin typeface="Inter"/>
                <a:ea typeface="Inter"/>
                <a:cs typeface="Inter"/>
                <a:sym typeface="Inter"/>
              </a:rPr>
              <a:t>, but not at every station.</a:t>
            </a:r>
          </a:p>
        </p:txBody>
      </p:sp>
      <p:sp>
        <p:nvSpPr>
          <p:cNvPr id="8" name="Freeform 8"/>
          <p:cNvSpPr/>
          <p:nvPr/>
        </p:nvSpPr>
        <p:spPr>
          <a:xfrm>
            <a:off x="864086" y="5356674"/>
            <a:ext cx="8279914" cy="218640"/>
          </a:xfrm>
          <a:custGeom>
            <a:avLst/>
            <a:gdLst/>
            <a:ahLst/>
            <a:cxnLst/>
            <a:rect l="l" t="t" r="r" b="b"/>
            <a:pathLst>
              <a:path w="8279914" h="218640">
                <a:moveTo>
                  <a:pt x="0" y="0"/>
                </a:moveTo>
                <a:lnTo>
                  <a:pt x="8279914" y="0"/>
                </a:lnTo>
                <a:lnTo>
                  <a:pt x="827991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869806" y="5757201"/>
            <a:ext cx="6781110" cy="85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07294B"/>
                </a:solidFill>
                <a:latin typeface="Inter"/>
                <a:ea typeface="Inter"/>
                <a:cs typeface="Inter"/>
                <a:sym typeface="Inter"/>
              </a:rPr>
              <a:t>Both regression models </a:t>
            </a:r>
            <a:r>
              <a:rPr lang="en-US" sz="2654" b="1" spc="-25">
                <a:solidFill>
                  <a:srgbClr val="056D77"/>
                </a:solidFill>
                <a:latin typeface="Inter Bold"/>
                <a:ea typeface="Inter Bold"/>
                <a:cs typeface="Inter Bold"/>
                <a:sym typeface="Inter Bold"/>
              </a:rPr>
              <a:t>underestimate</a:t>
            </a:r>
            <a:r>
              <a:rPr lang="en-US" sz="2654" spc="-25">
                <a:solidFill>
                  <a:srgbClr val="07294B"/>
                </a:solidFill>
                <a:latin typeface="Inter"/>
                <a:ea typeface="Inter"/>
                <a:cs typeface="Inter"/>
                <a:sym typeface="Inter"/>
              </a:rPr>
              <a:t> high-PM2.5 days.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64086" y="6854356"/>
            <a:ext cx="8279914" cy="218640"/>
          </a:xfrm>
          <a:custGeom>
            <a:avLst/>
            <a:gdLst/>
            <a:ahLst/>
            <a:cxnLst/>
            <a:rect l="l" t="t" r="r" b="b"/>
            <a:pathLst>
              <a:path w="8279914" h="218640">
                <a:moveTo>
                  <a:pt x="0" y="0"/>
                </a:moveTo>
                <a:lnTo>
                  <a:pt x="8279914" y="0"/>
                </a:lnTo>
                <a:lnTo>
                  <a:pt x="827991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872691" y="7135395"/>
            <a:ext cx="6492609" cy="826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548" spc="-24">
                <a:solidFill>
                  <a:srgbClr val="07294B"/>
                </a:solidFill>
                <a:latin typeface="Inter"/>
                <a:ea typeface="Inter"/>
                <a:cs typeface="Inter"/>
                <a:sym typeface="Inter"/>
              </a:rPr>
              <a:t>Next, </a:t>
            </a:r>
            <a:r>
              <a:rPr lang="en-US" sz="2548" b="1" spc="-24">
                <a:solidFill>
                  <a:srgbClr val="056D77"/>
                </a:solidFill>
                <a:latin typeface="Inter Bold"/>
                <a:ea typeface="Inter Bold"/>
                <a:cs typeface="Inter Bold"/>
                <a:sym typeface="Inter Bold"/>
              </a:rPr>
              <a:t>test individual weather variables</a:t>
            </a:r>
            <a:r>
              <a:rPr lang="en-US" sz="2548" spc="-24">
                <a:solidFill>
                  <a:srgbClr val="07294B"/>
                </a:solidFill>
                <a:latin typeface="Inter"/>
                <a:ea typeface="Inter"/>
                <a:cs typeface="Inter"/>
                <a:sym typeface="Inter"/>
              </a:rPr>
              <a:t> and evaluate the final model on 2025 data.</a:t>
            </a:r>
          </a:p>
        </p:txBody>
      </p:sp>
      <p:sp>
        <p:nvSpPr>
          <p:cNvPr id="12" name="Freeform 12"/>
          <p:cNvSpPr/>
          <p:nvPr/>
        </p:nvSpPr>
        <p:spPr>
          <a:xfrm>
            <a:off x="864086" y="8133399"/>
            <a:ext cx="8279914" cy="229572"/>
          </a:xfrm>
          <a:custGeom>
            <a:avLst/>
            <a:gdLst/>
            <a:ahLst/>
            <a:cxnLst/>
            <a:rect l="l" t="t" r="r" b="b"/>
            <a:pathLst>
              <a:path w="8279914" h="229572">
                <a:moveTo>
                  <a:pt x="0" y="0"/>
                </a:moveTo>
                <a:lnTo>
                  <a:pt x="8279914" y="0"/>
                </a:lnTo>
                <a:lnTo>
                  <a:pt x="827991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867703" y="8498274"/>
            <a:ext cx="6991412" cy="85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 dirty="0">
                <a:solidFill>
                  <a:srgbClr val="07294B"/>
                </a:solidFill>
                <a:latin typeface="Inter"/>
                <a:ea typeface="Inter"/>
                <a:cs typeface="Inter"/>
                <a:sym typeface="Inter"/>
              </a:rPr>
              <a:t>We </a:t>
            </a:r>
            <a:r>
              <a:rPr lang="en-US" sz="2654" b="1" spc="-25" dirty="0">
                <a:solidFill>
                  <a:srgbClr val="056D77"/>
                </a:solidFill>
                <a:latin typeface="Inter Bold"/>
                <a:ea typeface="Inter Bold"/>
                <a:cs typeface="Inter Bold"/>
                <a:sym typeface="Inter Bold"/>
              </a:rPr>
              <a:t>do not recommend</a:t>
            </a:r>
            <a:r>
              <a:rPr lang="en-US" sz="2654" spc="-25" dirty="0">
                <a:solidFill>
                  <a:srgbClr val="07294B"/>
                </a:solidFill>
                <a:latin typeface="Inter"/>
                <a:ea typeface="Inter"/>
                <a:cs typeface="Inter"/>
                <a:sym typeface="Inter"/>
              </a:rPr>
              <a:t> using weather data for all six stations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433</Words>
  <Application>Microsoft Macintosh PowerPoint</Application>
  <PresentationFormat>自訂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23" baseType="lpstr">
      <vt:lpstr>Source Sans 3</vt:lpstr>
      <vt:lpstr>Inter</vt:lpstr>
      <vt:lpstr>Arial</vt:lpstr>
      <vt:lpstr>Inter Bold</vt:lpstr>
      <vt:lpstr>Arial Nova Condensed</vt:lpstr>
      <vt:lpstr>Montserrat</vt:lpstr>
      <vt:lpstr>Calibri</vt:lpstr>
      <vt:lpstr>IBM Plex Mono Bold</vt:lpstr>
      <vt:lpstr>Inter Medium</vt:lpstr>
      <vt:lpstr>Arial Nova Condensed Bold</vt:lpstr>
      <vt:lpstr>Inter Semi-Bold</vt:lpstr>
      <vt:lpstr>Office Theme</vt:lpstr>
      <vt:lpstr>1_Office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507 Midterm</dc:title>
  <cp:lastModifiedBy>Wu, Che-Yueh</cp:lastModifiedBy>
  <cp:revision>5</cp:revision>
  <dcterms:created xsi:type="dcterms:W3CDTF">2006-08-16T00:00:00Z</dcterms:created>
  <dcterms:modified xsi:type="dcterms:W3CDTF">2026-10-12T15:31:28Z</dcterms:modified>
  <dc:identifier>DAHXvi9fLjE</dc:identifier>
</cp:coreProperties>
</file>